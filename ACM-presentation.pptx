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71177"/>
  </p:normalViewPr>
  <p:slideViewPr>
    <p:cSldViewPr snapToGrid="0">
      <p:cViewPr varScale="1">
        <p:scale>
          <a:sx n="112" d="100"/>
          <a:sy n="112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15DA2-A0F1-7A4E-A53D-00A914B89BA3}" type="datetimeFigureOut">
              <a:rPr lang="en-VN" smtClean="0"/>
              <a:t>29/6/25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7E3DC-9CD7-DB41-8EFD-5988F9E45211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124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42979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b="1" dirty="0"/>
              <a:t>OUTLINE</a:t>
            </a:r>
          </a:p>
          <a:p>
            <a:r>
              <a:rPr lang="en-VN" b="0" i="1" dirty="0"/>
              <a:t>(Just take a look)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82687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1. Introduce a little bit: Split Learning (Full-offloading, Local computing, Split computing)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2. Introduce Context and Problem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>
                <a:effectLst/>
              </a:rPr>
              <a:t>Just Example:</a:t>
            </a:r>
            <a:r>
              <a:rPr lang="en-US" b="1" u="none" dirty="0">
                <a:effectLst/>
              </a:rPr>
              <a:t> </a:t>
            </a:r>
            <a:r>
              <a:rPr lang="en-US" b="1" dirty="0">
                <a:effectLst/>
              </a:rPr>
              <a:t>(</a:t>
            </a:r>
            <a:r>
              <a:rPr lang="en-US" b="1" dirty="0" err="1">
                <a:effectLst/>
              </a:rPr>
              <a:t>sẽ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điều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chỉnh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lại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để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phù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hợp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và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ngắn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gọn</a:t>
            </a:r>
            <a:r>
              <a:rPr lang="en-US" b="1" dirty="0">
                <a:effectLst/>
              </a:rPr>
              <a:t> </a:t>
            </a:r>
            <a:r>
              <a:rPr lang="en-US" b="1" dirty="0" err="1">
                <a:effectLst/>
              </a:rPr>
              <a:t>hơn</a:t>
            </a:r>
            <a:r>
              <a:rPr lang="en-US" b="1" dirty="0">
                <a:effectLst/>
              </a:rPr>
              <a:t>)</a:t>
            </a:r>
            <a:br>
              <a:rPr lang="en-US" b="1" dirty="0">
                <a:effectLst/>
              </a:rPr>
            </a:br>
            <a:endParaRPr lang="en-US" b="1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Let’s start with the context. Split Learning (SL), is a powerful approach to deploy deep neural networks (DNN) on resource-constrained edge devices, like IoT or mobile systems, by splitting computation between the device and a server.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This enables efficient AI in real-world applications, such as smart homes or healthcare.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However, there are significant challenges. Edge devices have </a:t>
            </a:r>
            <a:r>
              <a:rPr lang="en-US" b="1" u="sng" dirty="0">
                <a:effectLst/>
              </a:rPr>
              <a:t>limited computational power</a:t>
            </a:r>
            <a:r>
              <a:rPr lang="en-US" dirty="0">
                <a:effectLst/>
              </a:rPr>
              <a:t> and network bandwidth, making it tough to run complex DNNs efficiently.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0000"/>
                </a:solidFill>
                <a:effectLst/>
              </a:rPr>
              <a:t>The key problem </a:t>
            </a:r>
            <a:r>
              <a:rPr lang="en-US" dirty="0">
                <a:effectLst/>
              </a:rPr>
              <a:t>is selecting the </a:t>
            </a:r>
            <a:r>
              <a:rPr lang="en-US" b="1" u="sng" dirty="0">
                <a:effectLst/>
              </a:rPr>
              <a:t>optimal split point</a:t>
            </a:r>
            <a:r>
              <a:rPr lang="en-US" dirty="0">
                <a:effectLst/>
              </a:rPr>
              <a:t> to balance local computation and communication costs, minimizing end-to-end inference latency.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For instance, in a smart camera system, high latency can delay real-time object detection.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So that why, we need a optimal split point !!!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Current methods, like heuristics or brute-force search, are either inefficient or lack adaptability to changing network conditions, such as fluctuating bandwidth.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This leads to our research question: how can we dynamically optimize split points to achieve minimal latency in diverse, real-world scenarios? That’s where our solution, </a:t>
            </a:r>
            <a:r>
              <a:rPr lang="en-US" b="1" dirty="0">
                <a:effectLst/>
              </a:rPr>
              <a:t>GA-Split</a:t>
            </a:r>
            <a:r>
              <a:rPr lang="en-US" dirty="0">
                <a:effectLst/>
              </a:rPr>
              <a:t> </a:t>
            </a:r>
            <a:r>
              <a:rPr lang="en-US" b="0" dirty="0">
                <a:effectLst/>
              </a:rPr>
              <a:t>(</a:t>
            </a:r>
            <a:r>
              <a:rPr lang="en-US" sz="1200" b="0" dirty="0"/>
              <a:t>Latency-Aware Split Learning Optimization via Genetic Algorithms</a:t>
            </a:r>
            <a:r>
              <a:rPr lang="en-US" b="0" dirty="0">
                <a:effectLst/>
              </a:rPr>
              <a:t>), </a:t>
            </a:r>
            <a:r>
              <a:rPr lang="en-US" dirty="0">
                <a:effectLst/>
              </a:rPr>
              <a:t>comes in, which I’ll introduce next.</a:t>
            </a:r>
          </a:p>
          <a:p>
            <a:endParaRPr lang="en-VN" dirty="0"/>
          </a:p>
          <a:p>
            <a:r>
              <a:rPr lang="en-US" dirty="0"/>
              <a:t>R</a:t>
            </a:r>
            <a:r>
              <a:rPr lang="en-VN" dirty="0"/>
              <a:t>ef: </a:t>
            </a:r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/figure/Split-learning-in-a-simple-setup_fig2_346511008 </a:t>
            </a:r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033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Reference text: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To address the challenges of Split Learning, we propose GA-Split, a novel framework that uses a Genetic Algorithm to dynamically optimize the split point in deep neural networks.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Unlike traditional heuristic methods, GA-Split leverages the global search capabilities of genetic algorithms to find the best split point, minimizing end-to-end inference latency.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How does it work?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First, it exploits natural bottlenecks in DNN architectures, like </a:t>
            </a:r>
            <a:r>
              <a:rPr lang="en-US" dirty="0" err="1">
                <a:effectLst/>
              </a:rPr>
              <a:t>EfficientNet</a:t>
            </a:r>
            <a:r>
              <a:rPr lang="en-US" dirty="0">
                <a:effectLst/>
              </a:rPr>
              <a:t>, to reduce the size of intermediate data sent to the server, cutting communication costs.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Second, it dynamically adapts to changing conditions, such as network bandwidth or batch size, ensuring optimal performance in real-world scenarios.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Most importantly, GA-Split requires no model retraining, making it a plug-and-play solution.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Compared to heuristic approaches, GA-Split offers superior global optimization and scalability, making it ideal for resource-constrained edge devices in IoT or mobile applications.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Next, I’ll dive into the methodology and how we formulate this optimization.</a:t>
            </a:r>
          </a:p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12408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dive into the methodology behind GA-Split. In Split Learning, we divide a deep neural network into two parts: the client, which runs the initial layers up to a split point l (L), and the server, which handles the remaining layers. The intermediate activation, hl (</a:t>
            </a:r>
            <a:r>
              <a:rPr lang="en-US" dirty="0" err="1"/>
              <a:t>h_L</a:t>
            </a:r>
            <a:r>
              <a:rPr lang="en-US" dirty="0"/>
              <a:t>), is sent from the client to the server, as shown here [point to DNN split diagram]. Our goal is to minimize the total inference latency, defined by this equation: Tl (T_L) equals the client computation time, plus the communication time—based on the data size and compression ratio divided by bandwidth—plus the server computation time [point to equation]. The challenge is to find the optimal split point, </a:t>
            </a:r>
            <a:r>
              <a:rPr lang="en-US" dirty="0" err="1"/>
              <a:t>s_opt</a:t>
            </a:r>
            <a:r>
              <a:rPr lang="en-US" dirty="0"/>
              <a:t>, that minimizes Tl. To do this, GA-Split uses a Genetic Algorithm with a population of 60 candidate split points, evolving over 400 generations. The fitness function evaluates each split point by calculating Tl, and through selection, crossover, and mutation with a probability of 0.20, we converge to the optimal split point [point to GA flowchart]. </a:t>
            </a:r>
          </a:p>
          <a:p>
            <a:r>
              <a:rPr lang="en-US" dirty="0"/>
              <a:t>This process ensures dynamic optimization, adapting to varying conditions like bandwidth or batch size, without retraining the model. Next, I’ll show how we tested this approach in our experiments.</a:t>
            </a:r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87544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Now, let’s look at how we evaluated GA-Split. We used EfficientNet-B7, a widely adopted deep neural network, as our test model [point to model]. For the environment, we simulated a resource-constrained client, like an IoT device, with only 16 threads and no GPU acceleration, mimicking real-world edge devices. The server, on the other hand, represents a powerful edge or cloud system [point to diagram]. To test GA-Split under diverse conditions, we varied the network bandwidth from 0.5 to 100 Mbps and the batch size from 1 to 30, reflecting realistic scenarios like fluctuating 5G networks or IoT data streams [point to conditions]. We evaluated three key metrics: the average inference latency, to measure performance; the split computing utility rate, to assess how often split computing outperforms full device or server execution; and the offline computation cost, to evaluate the overhead of our optimization process [point to metrics]. These setups allowed us to rigorously test GA-Split’s effectiveness, which I’ll share in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3660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Let’s explore the performance insights of GA-Split. In terms of inference latency, GA-Split achieves 27,846 milliseconds, nearly matching the baseline’s 27,612 milliseconds, with just a 0.8% increase [point to bullet point]. The real strength lies in the split computing utility rate, where GA-Split reaches an impressive 74.38%, a 2.6 times improvement over the baseline’s 28.70% [point to bullet point or optional bar chart]. This means GA-Split consistently outperforms full device or server execution in diverse scenarios. How does it achieve this? As shown in Figure 3 [point to Figure 3], GA-Split dynamically adapts its split point decisions based on bandwidth and batch size, unlike the baseline’s static approach. For example, in low-bandwidth conditions, it selects bottleneck layers to minimize communication costs, ensuring efficient performance across varying network conditions. Additionally, GA-Split incurs negligible runtime overhead, making it practical for edge AI applications like IoT or smart devices. Next, I’ll analyze how these results compare to existing methods.</a:t>
            </a:r>
          </a:p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95757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75799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In conclusion, GA-Split significantly enhances split learning, achieving a 74.38% utility rate, 2.6 times better than the baseline, while maintaining low inference latency [point to Conclusions]. Its dynamic split point optimization adapts to varying network conditions, making it highly scalable for resource-constrained edge AI applications, such as IoT or mobile devices [point to image]. Looking ahead, we plan to extend GA-Split to multi-objective optimization, balancing latency, energy, and privacy. We also aim to integrate it with emerging 5G and 6G networks and explore </a:t>
            </a:r>
            <a:r>
              <a:rPr lang="en-US" dirty="0" err="1">
                <a:effectLst/>
              </a:rPr>
              <a:t>tinyML</a:t>
            </a:r>
            <a:r>
              <a:rPr lang="en-US" dirty="0">
                <a:effectLst/>
              </a:rPr>
              <a:t> for ultra-low-power devices. Finally, multi-edge collaboration could further enhance its scalability [point to Future Work]. Thank you for your attention! I’m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37377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7E3DC-9CD7-DB41-8EFD-5988F9E45211}" type="slidenum">
              <a:rPr lang="en-VN" smtClean="0"/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3378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C1B0-BBCE-6352-A733-E05663567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F6AC0-22D7-E693-18D0-98C1902D2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AAA0E-360B-F879-E367-6880A17F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925A-892D-FFA8-CB40-88C47EAFD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4B923-D1D7-8297-AD79-47C352EE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6245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2303-E69E-8CFF-969D-06864CC7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C5BEF-FDE7-48C4-7F47-0C7BFC81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363EB-3447-92CA-72C0-D45846BF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4B555-8BBC-4340-FA66-47775491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D8D76-0FF0-236B-5783-99B0A0FB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0387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E79C-B0D6-C00C-BCB5-E05FFB9A5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95DD-CD1D-069E-B613-C340C55E3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5E075-BF76-DD4D-DF0B-D83EDEAA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BD79A-1339-2E9A-01E8-9549AAE31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FC694-5E80-E2EB-E0AA-E6D8DC19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400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420E-3619-AA3F-9C45-B0280268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61FD8-5BD2-A116-B5AA-3509CAEEA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8B821-2751-2958-EE8A-82A6974CC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53758-9AA9-7FB8-29C6-309CB5C9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5BEC-E0D6-1375-87C1-ABB34B1F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9A9C9-D438-914A-2699-1C555D63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248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7328-6655-2394-5866-B3C1012C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2589C-96E9-E02B-CE00-33B1F9244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5410B-A5BE-45BA-8A84-DDEB1E984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105E17-AF5D-E8A9-8F65-A831A67C0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377CC-14F5-1347-8A33-F23682F16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936ADC-FEF3-C7DD-2DFA-0A3862D9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6D9B98-883B-75F2-1292-CF3C3C45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8818F-B79E-BA99-FCCD-10F42C5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6415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6260-9A3D-68E2-06FD-F7541DF2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E1328-DBA1-A332-54BF-5001578D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4D905-7B3D-682D-15AD-89221DD4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B700D-4C58-6C3B-640B-99756756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8631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89383-4894-4D8A-FDD4-079A5E0D3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F7CD1-D5E4-740C-DAE4-7D777F1D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7D89-A5C5-E170-440D-CA20959C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1846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85E6-41FA-9F60-A61A-E23BEA2B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A0D04-1F9C-2A76-29ED-8FE23B5F4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0AFED-EE03-125C-C933-CC07BBCDB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70616-844F-70F2-8C9A-F98E1551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80945-5572-2B13-0D59-D112E0AC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05118-E11F-6B55-3CE1-2FC882545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34020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5A70-62A1-D7B2-6FF0-5F6FF40D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5BD59-781C-22AC-7908-883204C45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0702C-62AD-DB2D-81EC-648751220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2DCA9-A348-D2E9-B43A-CBE8CD1E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FAE8A-A9D7-2572-A0C3-971E0078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19855-0E85-1493-A171-46B6680C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6448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0762-C252-4AF8-F3F4-EFCE8644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B22E0-E2C8-6DEA-6650-8998A530F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4E8BF-D79D-C1FF-4532-7C39262E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83B70-0C6B-1FFB-9348-2CD12F73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3487-7440-A870-6542-7D9107D9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877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4DB03-325A-465E-1EBB-9DC6A96DA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D5DDF-029E-62F5-6BE4-98663FEE2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BBD5C-C0EA-BE42-99F3-CAE4F0BE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BD8F1-B17B-3685-C982-DA79075F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1EF3-AE43-D74F-B622-2C93C773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730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68820-DFB3-CAB7-DE69-D25C126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646E5-31B6-5D40-CA03-1253A05E8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3271D-AFCE-5689-CBC9-427CE2898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A5C37-7650-4A4E-A81C-061076925FEF}" type="datetimeFigureOut">
              <a:rPr lang="en-VN" smtClean="0"/>
              <a:t>29/6/25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2ED72-1D3F-F781-A9D9-F9537F42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87867-89EF-36E5-FBD3-9589A6996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F013E-7C0D-C94A-87D7-E7EAFC4AD993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04026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A1711A-1381-8673-5E95-182B9979DAE9}"/>
              </a:ext>
            </a:extLst>
          </p:cNvPr>
          <p:cNvSpPr/>
          <p:nvPr/>
        </p:nvSpPr>
        <p:spPr>
          <a:xfrm>
            <a:off x="1173480" y="2958193"/>
            <a:ext cx="9845040" cy="94161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/>
              <a:t>Latency-Aware Split Learning Optimization via Genetic Algorithms</a:t>
            </a:r>
            <a:endParaRPr lang="en-VN" sz="27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CF4FE-C487-5962-0334-9090CA4948CE}"/>
              </a:ext>
            </a:extLst>
          </p:cNvPr>
          <p:cNvSpPr txBox="1"/>
          <p:nvPr/>
        </p:nvSpPr>
        <p:spPr>
          <a:xfrm>
            <a:off x="4764546" y="3925934"/>
            <a:ext cx="338105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300" dirty="0">
                <a:solidFill>
                  <a:schemeClr val="accent2">
                    <a:lumMod val="50000"/>
                  </a:schemeClr>
                </a:solidFill>
              </a:rPr>
              <a:t>Presenter: </a:t>
            </a:r>
            <a:r>
              <a:rPr lang="en-VN" sz="2300" b="1" dirty="0">
                <a:solidFill>
                  <a:schemeClr val="accent2">
                    <a:lumMod val="50000"/>
                  </a:schemeClr>
                </a:solidFill>
              </a:rPr>
              <a:t>Le Hoang Trung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853440" y="115656"/>
            <a:ext cx="4789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0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" y="115656"/>
            <a:ext cx="6953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ACEDE1-9DD7-7713-9177-D23E3CA7D1AB}"/>
              </a:ext>
            </a:extLst>
          </p:cNvPr>
          <p:cNvSpPr txBox="1"/>
          <p:nvPr/>
        </p:nvSpPr>
        <p:spPr>
          <a:xfrm>
            <a:off x="2552923" y="4302542"/>
            <a:ext cx="8335808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accent2">
                    <a:lumMod val="50000"/>
                  </a:schemeClr>
                </a:solidFill>
              </a:rPr>
              <a:t>Affiliation: </a:t>
            </a:r>
            <a:r>
              <a:rPr lang="en-US" sz="2300" b="1" dirty="0">
                <a:solidFill>
                  <a:schemeClr val="accent2">
                    <a:lumMod val="50000"/>
                  </a:schemeClr>
                </a:solidFill>
              </a:rPr>
              <a:t>Software Engineer, LG Electronics R&amp;D Center - Vietnam</a:t>
            </a:r>
            <a:endParaRPr lang="en-VN" sz="23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880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3387634" y="15755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Problem and Context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C0990-8B79-5C86-ECC0-EB74A4018554}"/>
              </a:ext>
            </a:extLst>
          </p:cNvPr>
          <p:cNvSpPr txBox="1"/>
          <p:nvPr/>
        </p:nvSpPr>
        <p:spPr>
          <a:xfrm>
            <a:off x="3387634" y="20273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Proposed Solution: GA-Split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E6979F-DFF8-176F-8693-2463E64E2D3B}"/>
              </a:ext>
            </a:extLst>
          </p:cNvPr>
          <p:cNvSpPr txBox="1"/>
          <p:nvPr/>
        </p:nvSpPr>
        <p:spPr>
          <a:xfrm>
            <a:off x="3387634" y="24790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Methodology and Formulation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1AAB9-96B5-1E0B-FAC3-A3BAE8BE0B26}"/>
              </a:ext>
            </a:extLst>
          </p:cNvPr>
          <p:cNvSpPr txBox="1"/>
          <p:nvPr/>
        </p:nvSpPr>
        <p:spPr>
          <a:xfrm>
            <a:off x="3387634" y="29308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Experimental Setup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BD8F6-222D-D542-9B91-35F743728025}"/>
              </a:ext>
            </a:extLst>
          </p:cNvPr>
          <p:cNvSpPr txBox="1"/>
          <p:nvPr/>
        </p:nvSpPr>
        <p:spPr>
          <a:xfrm>
            <a:off x="3387634" y="33800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b="1" dirty="0"/>
              <a:t>Results: Performance Insights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848044-E98E-7BE4-CC34-7E5325545F6F}"/>
              </a:ext>
            </a:extLst>
          </p:cNvPr>
          <p:cNvSpPr txBox="1"/>
          <p:nvPr/>
        </p:nvSpPr>
        <p:spPr>
          <a:xfrm>
            <a:off x="3387634" y="38293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Analysis and Comparison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EAB4E7-BB03-D93E-7E39-56753BD5B867}"/>
              </a:ext>
            </a:extLst>
          </p:cNvPr>
          <p:cNvSpPr txBox="1"/>
          <p:nvPr/>
        </p:nvSpPr>
        <p:spPr>
          <a:xfrm>
            <a:off x="3387634" y="42786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Conclusions and Future Work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8F69F1-4B49-4B08-0280-52FE9C9D0278}"/>
              </a:ext>
            </a:extLst>
          </p:cNvPr>
          <p:cNvSpPr txBox="1"/>
          <p:nvPr/>
        </p:nvSpPr>
        <p:spPr>
          <a:xfrm>
            <a:off x="3387634" y="47278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Questions and 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61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1288868" y="1349127"/>
            <a:ext cx="364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>
                <a:solidFill>
                  <a:srgbClr val="C00000"/>
                </a:solidFill>
              </a:rPr>
              <a:t>Problem and Context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AF01A-CB4B-1746-E00A-29A7A890D928}"/>
              </a:ext>
            </a:extLst>
          </p:cNvPr>
          <p:cNvSpPr txBox="1"/>
          <p:nvPr/>
        </p:nvSpPr>
        <p:spPr>
          <a:xfrm>
            <a:off x="1288868" y="171845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Context: </a:t>
            </a:r>
          </a:p>
          <a:p>
            <a:r>
              <a:rPr lang="en-US" dirty="0">
                <a:effectLst/>
              </a:rPr>
              <a:t>- </a:t>
            </a:r>
            <a:r>
              <a:rPr lang="en-US" u="sng" dirty="0">
                <a:effectLst/>
              </a:rPr>
              <a:t>Split Learning</a:t>
            </a:r>
            <a:r>
              <a:rPr lang="en-US" dirty="0">
                <a:effectLst/>
              </a:rPr>
              <a:t> for edge AI </a:t>
            </a:r>
          </a:p>
          <a:p>
            <a:r>
              <a:rPr lang="en-US" dirty="0">
                <a:effectLst/>
              </a:rPr>
              <a:t>- Efficient DNNs on IoT devices </a:t>
            </a:r>
          </a:p>
          <a:p>
            <a:r>
              <a:rPr lang="en-US" dirty="0">
                <a:effectLst/>
              </a:rPr>
              <a:t>Challenges: </a:t>
            </a:r>
          </a:p>
          <a:p>
            <a:r>
              <a:rPr lang="en-US" dirty="0">
                <a:effectLst/>
              </a:rPr>
              <a:t>- Limited computation, bandwidth </a:t>
            </a:r>
          </a:p>
          <a:p>
            <a:r>
              <a:rPr lang="en-US" dirty="0">
                <a:effectLst/>
              </a:rPr>
              <a:t>- Optimal split point selection </a:t>
            </a:r>
          </a:p>
          <a:p>
            <a:r>
              <a:rPr lang="en-US" dirty="0">
                <a:effectLst/>
              </a:rPr>
              <a:t>- Heuristic methods: inefficient </a:t>
            </a:r>
          </a:p>
          <a:p>
            <a:r>
              <a:rPr lang="en-US" dirty="0">
                <a:effectLst/>
              </a:rPr>
              <a:t>Research Question: </a:t>
            </a:r>
          </a:p>
          <a:p>
            <a:r>
              <a:rPr lang="en-US" dirty="0">
                <a:effectLst/>
              </a:rPr>
              <a:t>- Minimize inference latency dynamically</a:t>
            </a:r>
          </a:p>
        </p:txBody>
      </p:sp>
      <p:pic>
        <p:nvPicPr>
          <p:cNvPr id="4100" name="Picture 4" descr="Illustration of the federated learning and split learning frameworks. |  Download Scientific Diagram">
            <a:extLst>
              <a:ext uri="{FF2B5EF4-FFF2-40B4-BE49-F238E27FC236}">
                <a16:creationId xmlns:a16="http://schemas.microsoft.com/office/drawing/2014/main" id="{D2E27D67-5483-0B9A-BA1F-1CF62D72E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801" y="412063"/>
            <a:ext cx="4229351" cy="301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n application of split learning in a cross-siloed health environment. |  Download Scientific Diagram">
            <a:extLst>
              <a:ext uri="{FF2B5EF4-FFF2-40B4-BE49-F238E27FC236}">
                <a16:creationId xmlns:a16="http://schemas.microsoft.com/office/drawing/2014/main" id="{ACF73038-237C-48DC-A9C9-EA0476132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004" y="3667397"/>
            <a:ext cx="4940943" cy="277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Split learning in a simple setup. | Download Scientific Diagram">
            <a:extLst>
              <a:ext uri="{FF2B5EF4-FFF2-40B4-BE49-F238E27FC236}">
                <a16:creationId xmlns:a16="http://schemas.microsoft.com/office/drawing/2014/main" id="{FEE04474-7B2D-0FB9-EE61-0F9F091EC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763" y="4450999"/>
            <a:ext cx="3759875" cy="2115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1B8B88-4165-CD59-42EB-8AADAA62A580}"/>
              </a:ext>
            </a:extLst>
          </p:cNvPr>
          <p:cNvSpPr txBox="1"/>
          <p:nvPr/>
        </p:nvSpPr>
        <p:spPr>
          <a:xfrm>
            <a:off x="4414701" y="603596"/>
            <a:ext cx="2227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Hình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ảnh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mang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tính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minh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hoạ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,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em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sẽ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chọn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hình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ảnh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đúng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với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ý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nghĩa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slides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hơn</a:t>
            </a:r>
            <a:endParaRPr lang="en-US" i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0330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1288868" y="1349127"/>
            <a:ext cx="364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Proposed Solution: GA-Split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AF01A-CB4B-1746-E00A-29A7A890D928}"/>
              </a:ext>
            </a:extLst>
          </p:cNvPr>
          <p:cNvSpPr txBox="1"/>
          <p:nvPr/>
        </p:nvSpPr>
        <p:spPr>
          <a:xfrm>
            <a:off x="1288868" y="171845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GA-Split: Genetic Algorithm optimization </a:t>
            </a:r>
          </a:p>
          <a:p>
            <a:r>
              <a:rPr lang="en-US" dirty="0">
                <a:effectLst/>
              </a:rPr>
              <a:t>Key Features: </a:t>
            </a:r>
          </a:p>
          <a:p>
            <a:r>
              <a:rPr lang="en-US" dirty="0">
                <a:effectLst/>
              </a:rPr>
              <a:t>- Exploits natural bottlenecks </a:t>
            </a:r>
          </a:p>
          <a:p>
            <a:r>
              <a:rPr lang="en-US" dirty="0">
                <a:effectLst/>
              </a:rPr>
              <a:t>- Adapts to bandwidth, batch size </a:t>
            </a:r>
          </a:p>
          <a:p>
            <a:r>
              <a:rPr lang="en-US" dirty="0">
                <a:effectLst/>
              </a:rPr>
              <a:t>- Minimizes inference latency </a:t>
            </a:r>
          </a:p>
          <a:p>
            <a:r>
              <a:rPr lang="en-US" dirty="0">
                <a:effectLst/>
              </a:rPr>
              <a:t>Advantages: </a:t>
            </a:r>
          </a:p>
          <a:p>
            <a:r>
              <a:rPr lang="en-US" dirty="0">
                <a:effectLst/>
              </a:rPr>
              <a:t>- Global optimization </a:t>
            </a:r>
          </a:p>
          <a:p>
            <a:r>
              <a:rPr lang="en-US" dirty="0">
                <a:effectLst/>
              </a:rPr>
              <a:t>- No model retraining </a:t>
            </a:r>
          </a:p>
          <a:p>
            <a:r>
              <a:rPr lang="en-US" dirty="0">
                <a:effectLst/>
              </a:rPr>
              <a:t>- Scalable for edge 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D3AB4-A44B-49C0-71BD-86EB475A8D41}"/>
              </a:ext>
            </a:extLst>
          </p:cNvPr>
          <p:cNvSpPr txBox="1"/>
          <p:nvPr/>
        </p:nvSpPr>
        <p:spPr>
          <a:xfrm>
            <a:off x="1288868" y="5148513"/>
            <a:ext cx="3770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</a:t>
            </a:r>
            <a:r>
              <a:rPr lang="en-US" dirty="0">
                <a:effectLst/>
              </a:rPr>
              <a:t>Left Image: Flowchart of GA process]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B1FC7-F35C-035E-2E37-2765E5E65BCA}"/>
              </a:ext>
            </a:extLst>
          </p:cNvPr>
          <p:cNvSpPr txBox="1"/>
          <p:nvPr/>
        </p:nvSpPr>
        <p:spPr>
          <a:xfrm>
            <a:off x="1290798" y="551784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[Bottom: Small diagram of split point selection]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551FC-C085-BD89-5B77-96E82BD06E9F}"/>
              </a:ext>
            </a:extLst>
          </p:cNvPr>
          <p:cNvSpPr txBox="1"/>
          <p:nvPr/>
        </p:nvSpPr>
        <p:spPr>
          <a:xfrm>
            <a:off x="7112453" y="1533793"/>
            <a:ext cx="355940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effectLst/>
              </a:rPr>
              <a:t>[Proposed Solution: GA-Split] </a:t>
            </a:r>
          </a:p>
          <a:p>
            <a:r>
              <a:rPr lang="en-US" sz="900" dirty="0">
                <a:effectLst/>
              </a:rPr>
              <a:t>[Left: GA Flowchart] </a:t>
            </a:r>
          </a:p>
          <a:p>
            <a:r>
              <a:rPr lang="en-US" sz="900" dirty="0">
                <a:effectLst/>
              </a:rPr>
              <a:t>[Initialization: 60 split points] </a:t>
            </a:r>
          </a:p>
          <a:p>
            <a:r>
              <a:rPr lang="en-US" sz="900" dirty="0">
                <a:effectLst/>
              </a:rPr>
              <a:t>↓ </a:t>
            </a:r>
          </a:p>
          <a:p>
            <a:r>
              <a:rPr lang="en-US" sz="900" dirty="0">
                <a:effectLst/>
              </a:rPr>
              <a:t>[Evaluate Fitness: Minimize </a:t>
            </a:r>
            <a:r>
              <a:rPr lang="en-US" sz="900" dirty="0" err="1">
                <a:effectLst/>
              </a:rPr>
              <a:t>T_l</a:t>
            </a:r>
            <a:r>
              <a:rPr lang="en-US" sz="900" dirty="0">
                <a:effectLst/>
              </a:rPr>
              <a:t>] </a:t>
            </a:r>
          </a:p>
          <a:p>
            <a:r>
              <a:rPr lang="en-US" sz="900" dirty="0">
                <a:effectLst/>
              </a:rPr>
              <a:t>↓ </a:t>
            </a:r>
          </a:p>
          <a:p>
            <a:r>
              <a:rPr lang="en-US" sz="900" dirty="0">
                <a:effectLst/>
              </a:rPr>
              <a:t>[Select Best Split Points] </a:t>
            </a:r>
          </a:p>
          <a:p>
            <a:r>
              <a:rPr lang="en-US" sz="900" dirty="0">
                <a:effectLst/>
              </a:rPr>
              <a:t>↓ </a:t>
            </a:r>
          </a:p>
          <a:p>
            <a:r>
              <a:rPr lang="en-US" sz="900" dirty="0">
                <a:effectLst/>
              </a:rPr>
              <a:t>[Crossover &amp; Mutation: Prob 0.20] </a:t>
            </a:r>
          </a:p>
          <a:p>
            <a:r>
              <a:rPr lang="en-US" sz="900" dirty="0">
                <a:effectLst/>
              </a:rPr>
              <a:t>↻ (400 Generations) </a:t>
            </a:r>
          </a:p>
          <a:p>
            <a:r>
              <a:rPr lang="en-US" sz="900" dirty="0">
                <a:effectLst/>
              </a:rPr>
              <a:t>↓ </a:t>
            </a:r>
          </a:p>
          <a:p>
            <a:r>
              <a:rPr lang="en-US" sz="900" dirty="0">
                <a:effectLst/>
              </a:rPr>
              <a:t>[Output: Optimal Split Point (</a:t>
            </a:r>
            <a:r>
              <a:rPr lang="en-US" sz="900" dirty="0" err="1">
                <a:effectLst/>
              </a:rPr>
              <a:t>s_opt</a:t>
            </a:r>
            <a:r>
              <a:rPr lang="en-US" sz="900" dirty="0">
                <a:effectLst/>
              </a:rPr>
              <a:t>)] </a:t>
            </a:r>
          </a:p>
          <a:p>
            <a:r>
              <a:rPr lang="en-US" sz="900" dirty="0">
                <a:effectLst/>
              </a:rPr>
              <a:t>[Right: Bullet points] </a:t>
            </a:r>
          </a:p>
          <a:p>
            <a:r>
              <a:rPr lang="en-US" sz="900" dirty="0">
                <a:effectLst/>
              </a:rPr>
              <a:t>- GA-Split: Genetic Algorithm optimization </a:t>
            </a:r>
          </a:p>
          <a:p>
            <a:r>
              <a:rPr lang="en-US" sz="900" dirty="0">
                <a:effectLst/>
              </a:rPr>
              <a:t>- Key Features: </a:t>
            </a:r>
          </a:p>
          <a:p>
            <a:r>
              <a:rPr lang="en-US" sz="900" dirty="0">
                <a:effectLst/>
              </a:rPr>
              <a:t>- Exploits natural bottlenecks </a:t>
            </a:r>
          </a:p>
          <a:p>
            <a:r>
              <a:rPr lang="en-US" sz="900" dirty="0">
                <a:effectLst/>
              </a:rPr>
              <a:t>- Adapts to bandwidth, batch size </a:t>
            </a:r>
          </a:p>
          <a:p>
            <a:r>
              <a:rPr lang="en-US" sz="900" dirty="0">
                <a:effectLst/>
              </a:rPr>
              <a:t>- Minimizes inference latency </a:t>
            </a:r>
          </a:p>
          <a:p>
            <a:r>
              <a:rPr lang="en-US" sz="900" dirty="0">
                <a:effectLst/>
              </a:rPr>
              <a:t>- Advantages: </a:t>
            </a:r>
          </a:p>
          <a:p>
            <a:r>
              <a:rPr lang="en-US" sz="900" dirty="0">
                <a:effectLst/>
              </a:rPr>
              <a:t>- Global optimization </a:t>
            </a:r>
          </a:p>
          <a:p>
            <a:r>
              <a:rPr lang="en-US" sz="900" dirty="0">
                <a:effectLst/>
              </a:rPr>
              <a:t>- No model retraining </a:t>
            </a:r>
          </a:p>
          <a:p>
            <a:r>
              <a:rPr lang="en-US" sz="900" dirty="0">
                <a:effectLst/>
              </a:rPr>
              <a:t>- Scalable for edge AI </a:t>
            </a:r>
          </a:p>
          <a:p>
            <a:r>
              <a:rPr lang="en-US" sz="900" dirty="0">
                <a:effectLst/>
              </a:rPr>
              <a:t>[Bottom: Split Point Diagram] </a:t>
            </a:r>
          </a:p>
          <a:p>
            <a:r>
              <a:rPr lang="en-US" sz="900" dirty="0">
                <a:effectLst/>
              </a:rPr>
              <a:t>[Client] → [Layer 1 | Bottleneck (</a:t>
            </a:r>
            <a:r>
              <a:rPr lang="en-US" sz="900" dirty="0" err="1">
                <a:effectLst/>
              </a:rPr>
              <a:t>s_opt</a:t>
            </a:r>
            <a:r>
              <a:rPr lang="en-US" sz="900" dirty="0">
                <a:effectLst/>
              </a:rPr>
              <a:t>) | Layer L] → [Server] </a:t>
            </a:r>
          </a:p>
          <a:p>
            <a:r>
              <a:rPr lang="en-US" sz="900" dirty="0">
                <a:effectLst/>
              </a:rPr>
              <a:t>|← Part 1 →| [</a:t>
            </a:r>
            <a:r>
              <a:rPr lang="en-US" sz="900" dirty="0" err="1">
                <a:effectLst/>
              </a:rPr>
              <a:t>h_l</a:t>
            </a:r>
            <a:r>
              <a:rPr lang="en-US" sz="900" dirty="0">
                <a:effectLst/>
              </a:rPr>
              <a:t>] |← Part 2 →|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40640-2FCE-7CC0-6EF5-A7F4B6B8665A}"/>
              </a:ext>
            </a:extLst>
          </p:cNvPr>
          <p:cNvSpPr txBox="1"/>
          <p:nvPr/>
        </p:nvSpPr>
        <p:spPr>
          <a:xfrm>
            <a:off x="4982119" y="465097"/>
            <a:ext cx="2227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Chỗ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này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em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sẽ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trình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bày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Đề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xuất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giải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pháp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en-US" i="1" dirty="0" err="1">
                <a:solidFill>
                  <a:srgbClr val="C00000"/>
                </a:solidFill>
                <a:highlight>
                  <a:srgbClr val="FFFF00"/>
                </a:highlight>
              </a:rPr>
              <a:t>của</a:t>
            </a:r>
            <a:r>
              <a:rPr lang="en-US" i="1" dirty="0">
                <a:solidFill>
                  <a:srgbClr val="C00000"/>
                </a:solidFill>
                <a:highlight>
                  <a:srgbClr val="FFFF00"/>
                </a:highlight>
              </a:rPr>
              <a:t> paper</a:t>
            </a:r>
          </a:p>
        </p:txBody>
      </p:sp>
    </p:spTree>
    <p:extLst>
      <p:ext uri="{BB962C8B-B14F-4D97-AF65-F5344CB8AC3E}">
        <p14:creationId xmlns:p14="http://schemas.microsoft.com/office/powerpoint/2010/main" val="234665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1184695" y="831249"/>
            <a:ext cx="364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Methodology and Formulation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DC63B-1C83-2DFA-9CAC-4AEAC0C7D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662" y="1306969"/>
            <a:ext cx="5282878" cy="4719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3F0475-5909-3F96-9481-5C9064D10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60" y="1306969"/>
            <a:ext cx="5520053" cy="471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1288868" y="1124256"/>
            <a:ext cx="364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Experimental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CAD2E-6009-A17B-BFF9-D9157C9F144F}"/>
              </a:ext>
            </a:extLst>
          </p:cNvPr>
          <p:cNvSpPr txBox="1"/>
          <p:nvPr/>
        </p:nvSpPr>
        <p:spPr>
          <a:xfrm>
            <a:off x="2825931" y="1859339"/>
            <a:ext cx="60979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dirty="0"/>
              <a:t>Model: EfficientNet-B7</a:t>
            </a:r>
          </a:p>
          <a:p>
            <a:pPr rtl="0"/>
            <a:r>
              <a:rPr lang="en-US" dirty="0"/>
              <a:t>Environment: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Client: 16 threads, no GPU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Server: High compute power</a:t>
            </a:r>
          </a:p>
          <a:p>
            <a:pPr rtl="0"/>
            <a:r>
              <a:rPr lang="en-US" dirty="0"/>
              <a:t>Conditions: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Bandwidth: 0.5-100 Mbps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Batch Size: 1-30</a:t>
            </a:r>
          </a:p>
          <a:p>
            <a:pPr rtl="0"/>
            <a:r>
              <a:rPr lang="en-US" dirty="0"/>
              <a:t>Metrics: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Inference latency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Split computing utility rate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Offline computation cost</a:t>
            </a:r>
          </a:p>
        </p:txBody>
      </p:sp>
    </p:spTree>
    <p:extLst>
      <p:ext uri="{BB962C8B-B14F-4D97-AF65-F5344CB8AC3E}">
        <p14:creationId xmlns:p14="http://schemas.microsoft.com/office/powerpoint/2010/main" val="115254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1288868" y="1124256"/>
            <a:ext cx="364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b="1" dirty="0"/>
              <a:t>Results: Performance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CAD2E-6009-A17B-BFF9-D9157C9F144F}"/>
              </a:ext>
            </a:extLst>
          </p:cNvPr>
          <p:cNvSpPr txBox="1"/>
          <p:nvPr/>
        </p:nvSpPr>
        <p:spPr>
          <a:xfrm>
            <a:off x="1065711" y="2087939"/>
            <a:ext cx="6097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Inference Latency: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GA-Split: 27846.72 </a:t>
            </a:r>
            <a:r>
              <a:rPr lang="en-US" dirty="0" err="1"/>
              <a:t>ms</a:t>
            </a:r>
            <a:endParaRPr lang="en-US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Baseline: 27612.13 </a:t>
            </a:r>
            <a:r>
              <a:rPr lang="en-US" dirty="0" err="1"/>
              <a:t>ms</a:t>
            </a:r>
            <a:r>
              <a:rPr lang="en-US" dirty="0"/>
              <a:t> (~0.8% higher)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Utility Rate: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GA-Split: 74.38%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Baseline: 28.70% (2.6x better)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Key Insights: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Dynamic adaptation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Outperforms in diverse conditions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Negligible runtime overhead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3E2FFB-905C-AEFA-E37C-48F8500A0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884" y="1995662"/>
            <a:ext cx="6271460" cy="325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1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1117418" y="939590"/>
            <a:ext cx="364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Analysis and Comparison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C4308-EF2C-C68D-1624-5909605C0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685" y="1308922"/>
            <a:ext cx="7871460" cy="2623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CF5AF3-56ED-911C-928F-B41177868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1685" y="3932742"/>
            <a:ext cx="9155430" cy="264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0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1117418" y="939590"/>
            <a:ext cx="364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Conclusions and Future Work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2F1E6-7368-440C-89B6-F8E7C1E2CCD3}"/>
              </a:ext>
            </a:extLst>
          </p:cNvPr>
          <p:cNvSpPr txBox="1"/>
          <p:nvPr/>
        </p:nvSpPr>
        <p:spPr>
          <a:xfrm>
            <a:off x="3048953" y="2274838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Conclusions: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GA-Split: 74.38% utility rate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Dynamic split point optimization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Scalable for edge AI</a:t>
            </a:r>
          </a:p>
          <a:p>
            <a:pPr rtl="0"/>
            <a:r>
              <a:rPr lang="en-US" b="1" dirty="0"/>
              <a:t>Future Work: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Multi-objective optimization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5G/6G, </a:t>
            </a:r>
            <a:r>
              <a:rPr lang="en-US" dirty="0" err="1"/>
              <a:t>tinyML</a:t>
            </a:r>
            <a:r>
              <a:rPr lang="en-US" dirty="0"/>
              <a:t> integration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Multi-edge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465514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64D48E-5AF5-B5EF-3AD0-E1850812F139}"/>
              </a:ext>
            </a:extLst>
          </p:cNvPr>
          <p:cNvSpPr txBox="1"/>
          <p:nvPr/>
        </p:nvSpPr>
        <p:spPr>
          <a:xfrm>
            <a:off x="714103" y="135064"/>
            <a:ext cx="4223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1500" b="1" dirty="0"/>
              <a:t>The 15th ACM International Conference on Multimedia Retrieval 2025</a:t>
            </a:r>
          </a:p>
        </p:txBody>
      </p:sp>
      <p:pic>
        <p:nvPicPr>
          <p:cNvPr id="1026" name="Picture 2" descr="Workshops - ACM ASIACCS 2025">
            <a:extLst>
              <a:ext uri="{FF2B5EF4-FFF2-40B4-BE49-F238E27FC236}">
                <a16:creationId xmlns:a16="http://schemas.microsoft.com/office/drawing/2014/main" id="{743AF35C-E4B5-F83C-4E3D-E7AFFBA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81" y="98240"/>
            <a:ext cx="590822" cy="5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ADEAAD-A0A7-0317-50BA-74CF4FF21631}"/>
              </a:ext>
            </a:extLst>
          </p:cNvPr>
          <p:cNvSpPr txBox="1"/>
          <p:nvPr/>
        </p:nvSpPr>
        <p:spPr>
          <a:xfrm>
            <a:off x="4592138" y="3059668"/>
            <a:ext cx="364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dirty="0"/>
              <a:t>Questions and 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078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1762</Words>
  <Application>Microsoft Macintosh PowerPoint</Application>
  <PresentationFormat>Widescreen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Banseok117</dc:creator>
  <cp:lastModifiedBy>Banseok117</cp:lastModifiedBy>
  <cp:revision>4</cp:revision>
  <dcterms:created xsi:type="dcterms:W3CDTF">2025-06-29T10:23:09Z</dcterms:created>
  <dcterms:modified xsi:type="dcterms:W3CDTF">2025-06-29T13:39:31Z</dcterms:modified>
</cp:coreProperties>
</file>